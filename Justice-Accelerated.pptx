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ontserrat Thin"/>
      <p:regular r:id="rId201314"/>
    </p:embeddedFont>
    <p:embeddedFont>
      <p:font typeface="Montserrat"/>
      <p:regular r:id="rId201315"/>
    </p:embeddedFont>
    <p:embeddedFont>
      <p:font typeface="Montserrat SemiBold"/>
      <p:regular r:id="rId201316"/>
    </p:embeddedFont>
    <p:embeddedFont>
      <p:font typeface="Montserrat Bold"/>
      <p:regular r:id="rId201317"/>
    </p:embeddedFont>
    <p:embeddedFont>
      <p:font typeface="Montserrat Black"/>
      <p:regular r:id="rId201318"/>
    </p:embeddedFont>
    <p:embeddedFont>
      <p:font typeface="Montserrat Light"/>
      <p:regular r:id="rId201319"/>
    </p:embeddedFont>
    <p:embeddedFont>
      <p:font typeface="Montserrat ExtraLight"/>
      <p:regular r:id="rId201320"/>
    </p:embeddedFont>
    <p:embeddedFont>
      <p:font typeface="Montserrat Medium"/>
      <p:regular r:id="rId201321"/>
    </p:embeddedFont>
    <p:embeddedFont>
      <p:font typeface="Montserrat ExtraBold"/>
      <p:regular r:id="rId201322"/>
    </p:embeddedFont>
    <p:embeddedFont>
      <p:font typeface="Source Sans 3 ExtraLight"/>
      <p:regular r:id="rId201323"/>
    </p:embeddedFont>
    <p:embeddedFont>
      <p:font typeface="Source Sans 3 Light"/>
      <p:regular r:id="rId201324"/>
    </p:embeddedFont>
    <p:embeddedFont>
      <p:font typeface="Source Sans 3"/>
      <p:regular r:id="rId201325"/>
    </p:embeddedFont>
    <p:embeddedFont>
      <p:font typeface="Source Sans 3 Medium"/>
      <p:regular r:id="rId201326"/>
    </p:embeddedFont>
    <p:embeddedFont>
      <p:font typeface="Source Sans 3 SemiBold"/>
      <p:regular r:id="rId201327"/>
    </p:embeddedFont>
    <p:embeddedFont>
      <p:font typeface="Source Sans 3 Bold"/>
      <p:regular r:id="rId201328"/>
    </p:embeddedFont>
    <p:embeddedFont>
      <p:font typeface="Source Sans 3 ExtraBold"/>
      <p:regular r:id="rId201329"/>
    </p:embeddedFont>
    <p:embeddedFont>
      <p:font typeface="Source Sans 3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285131"/>
            <a:ext cx="4635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JurisBot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68874" y="1954783"/>
            <a:ext cx="4635252" cy="1209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Justice, Accelerated.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968874" y="3395663"/>
            <a:ext cx="4635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world's first AI-driven Legal Operating System — connecting citizens in crisis to verified legal experts,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874" y="498723"/>
            <a:ext cx="886792" cy="223391"/>
          </a:xfrm>
          <a:prstGeom prst="roundRect">
            <a:avLst>
              <a:gd name="adj" fmla="val 7899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628055" y="542776"/>
            <a:ext cx="1167631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39874" y="778148"/>
            <a:ext cx="4635252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40 Million Cases. Zero Clarity.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39874" y="1823665"/>
            <a:ext cx="2247528" cy="1663526"/>
          </a:xfrm>
          <a:prstGeom prst="roundRect">
            <a:avLst>
              <a:gd name="adj" fmla="val 1326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686842" y="1970633"/>
            <a:ext cx="195359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 Citizens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6842" y="2263453"/>
            <a:ext cx="1953592" cy="1076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sudden dispute — property, family, consumer — and no idea what your rights are. Finding an honest lawyer feels like navigating a maze blindfolded.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27524" y="1823665"/>
            <a:ext cx="2247602" cy="1663526"/>
          </a:xfrm>
          <a:prstGeom prst="roundRect">
            <a:avLst>
              <a:gd name="adj" fmla="val 1326"/>
            </a:avLst>
          </a:prstGeom>
          <a:solidFill>
            <a:srgbClr val="303132"/>
          </a:solidFill>
          <a:ln/>
        </p:spPr>
      </p:sp>
      <p:sp>
        <p:nvSpPr>
          <p:cNvPr id="10" name="Text 7"/>
          <p:cNvSpPr/>
          <p:nvPr/>
        </p:nvSpPr>
        <p:spPr>
          <a:xfrm>
            <a:off x="3074491" y="1970633"/>
            <a:ext cx="1953667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 Lawyers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74491" y="2263453"/>
            <a:ext cx="1953667" cy="1076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Brilliant legal minds drowning in admin. Hours lost on basic consultations just to determine if a case is valid — time stolen from actual justice.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9874" y="3627313"/>
            <a:ext cx="4635252" cy="1017463"/>
          </a:xfrm>
          <a:prstGeom prst="roundRect">
            <a:avLst>
              <a:gd name="adj" fmla="val 2168"/>
            </a:avLst>
          </a:prstGeom>
          <a:solidFill>
            <a:srgbClr val="303132"/>
          </a:solidFill>
          <a:ln/>
        </p:spPr>
      </p:sp>
      <p:sp>
        <p:nvSpPr>
          <p:cNvPr id="13" name="Text 10"/>
          <p:cNvSpPr/>
          <p:nvPr/>
        </p:nvSpPr>
        <p:spPr>
          <a:xfrm>
            <a:off x="686842" y="3774281"/>
            <a:ext cx="4341316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Industry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6842" y="4067101"/>
            <a:ext cx="4341316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Fragmented tools — Clio, Calendly, Zoom, WhatsApp — none designed for the citizen. Just admin software dressed up as a solution.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874" y="429444"/>
            <a:ext cx="905024" cy="219819"/>
          </a:xfrm>
          <a:prstGeom prst="roundRect">
            <a:avLst>
              <a:gd name="adj" fmla="val 7895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626641" y="472827"/>
            <a:ext cx="118869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39874" y="703436"/>
            <a:ext cx="4635252" cy="82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 an App. An Operating System.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539874" y="1728490"/>
            <a:ext cx="4635252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JurisBot is the world's first </a:t>
            </a:r>
            <a:pPr algn="l" indent="0" marL="0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AI-driven Legal Operating System</a:t>
            </a:r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 single, unified platform that bridges citizens in crisis directly to verified legal experts, with artificial intelligence orchestrating every step.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9874" y="2511400"/>
            <a:ext cx="4635252" cy="2202656"/>
          </a:xfrm>
          <a:prstGeom prst="roundRect">
            <a:avLst>
              <a:gd name="adj" fmla="val 985"/>
            </a:avLst>
          </a:prstGeom>
          <a:solidFill>
            <a:srgbClr val="303132"/>
          </a:solidFill>
          <a:ln/>
        </p:spPr>
      </p:sp>
      <p:sp>
        <p:nvSpPr>
          <p:cNvPr id="8" name="Shape 5"/>
          <p:cNvSpPr/>
          <p:nvPr/>
        </p:nvSpPr>
        <p:spPr>
          <a:xfrm>
            <a:off x="539874" y="2511400"/>
            <a:ext cx="2317626" cy="1206401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9" name="Text 6"/>
          <p:cNvSpPr/>
          <p:nvPr/>
        </p:nvSpPr>
        <p:spPr>
          <a:xfrm>
            <a:off x="684461" y="2655987"/>
            <a:ext cx="2028453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Instant Triage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4461" y="2942779"/>
            <a:ext cx="2028453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reads actual legal codes and tells citizens their rights — in seconds.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57500" y="2511400"/>
            <a:ext cx="2317626" cy="1206401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0" y="2511400"/>
            <a:ext cx="19050" cy="1206401"/>
          </a:xfrm>
          <a:prstGeom prst="roundRect">
            <a:avLst>
              <a:gd name="adj" fmla="val 113880"/>
            </a:avLst>
          </a:prstGeom>
          <a:solidFill>
            <a:srgbClr val="494A4B"/>
          </a:solidFill>
          <a:ln/>
        </p:spPr>
      </p:sp>
      <p:sp>
        <p:nvSpPr>
          <p:cNvPr id="13" name="Text 10"/>
          <p:cNvSpPr/>
          <p:nvPr/>
        </p:nvSpPr>
        <p:spPr>
          <a:xfrm>
            <a:off x="3002087" y="2655987"/>
            <a:ext cx="2028453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Routing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02087" y="2942779"/>
            <a:ext cx="2028453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Cases are packaged into professional briefs and matched to verified lawyers.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9874" y="3717801"/>
            <a:ext cx="4635252" cy="996255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6" name="Shape 13"/>
          <p:cNvSpPr/>
          <p:nvPr/>
        </p:nvSpPr>
        <p:spPr>
          <a:xfrm>
            <a:off x="539874" y="3717801"/>
            <a:ext cx="4635252" cy="19050"/>
          </a:xfrm>
          <a:prstGeom prst="roundRect">
            <a:avLst>
              <a:gd name="adj" fmla="val 113880"/>
            </a:avLst>
          </a:prstGeom>
          <a:solidFill>
            <a:srgbClr val="494A4B"/>
          </a:solidFill>
          <a:ln/>
        </p:spPr>
      </p:sp>
      <p:sp>
        <p:nvSpPr>
          <p:cNvPr id="17" name="Text 14"/>
          <p:cNvSpPr/>
          <p:nvPr/>
        </p:nvSpPr>
        <p:spPr>
          <a:xfrm>
            <a:off x="684461" y="3862388"/>
            <a:ext cx="4346079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Resolution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84461" y="4149179"/>
            <a:ext cx="4346079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Encrypted video consultations built in. No Zoom. No WhatsApp. All in one place.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435694"/>
            <a:ext cx="915070" cy="219819"/>
          </a:xfrm>
          <a:prstGeom prst="roundRect">
            <a:avLst>
              <a:gd name="adj" fmla="val 7895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626641" y="479078"/>
            <a:ext cx="1198736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9874" y="709687"/>
            <a:ext cx="8064252" cy="4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From Panic to Resolution in Three Steps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772" y="1323901"/>
            <a:ext cx="4736381" cy="2811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00368" y="3390186"/>
            <a:ext cx="1177360" cy="412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Lawyer Consult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6572" y="3390186"/>
            <a:ext cx="1177360" cy="412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Instant Triage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08583" y="3390186"/>
            <a:ext cx="1177360" cy="412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Describe Issue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39874" y="4287441"/>
            <a:ext cx="8064252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waiting weeks for appointments. No confusing legal jargon. JurisBot meets citizens where they are — in plain English — and gets them to the right expert, fast.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426169"/>
            <a:ext cx="563910" cy="146447"/>
          </a:xfrm>
          <a:prstGeom prst="roundRect">
            <a:avLst>
              <a:gd name="adj" fmla="val 7901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597694" y="455042"/>
            <a:ext cx="905470" cy="88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39874" y="596652"/>
            <a:ext cx="8064252" cy="273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Enterprise-Ready Architecture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1028700"/>
            <a:ext cx="5159425" cy="29236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39210" y="2372990"/>
            <a:ext cx="2669604" cy="2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JurisBot runs on a </a:t>
            </a:r>
            <a:pPr algn="l" indent="0" marL="0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tri-portal architecture</a:t>
            </a:r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Citizen, Lawyer, and Master Admin — built to scale from day one.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4087937"/>
            <a:ext cx="2647950" cy="629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7678" y="4198590"/>
            <a:ext cx="236949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React + Node + Python AI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07678" y="4371603"/>
            <a:ext cx="2369493" cy="2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modern, battle-tested stack with lightning-fast WebSockets for real-time alerts.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8025" y="4087937"/>
            <a:ext cx="2647950" cy="629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15829" y="4198590"/>
            <a:ext cx="236949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RAG-Powered AI Brain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3415829" y="4371603"/>
            <a:ext cx="2369493" cy="2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Retrieval-Augmented Generation means legal advice updates the moment new laws pass — never outdated.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6176" y="4087937"/>
            <a:ext cx="2647950" cy="629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23980" y="4198590"/>
            <a:ext cx="236949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Institutional Analytics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6123980" y="4371603"/>
            <a:ext cx="2369493" cy="2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Master Admin dashboard provides real-time oversight across all cases and platform activity.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424235"/>
            <a:ext cx="552524" cy="117053"/>
          </a:xfrm>
          <a:prstGeom prst="roundRect">
            <a:avLst>
              <a:gd name="adj" fmla="val 7908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586085" y="447303"/>
            <a:ext cx="917302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MODEL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539874" y="556692"/>
            <a:ext cx="806425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Free for Citizens. Premium for Lawyers.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877044"/>
            <a:ext cx="3938067" cy="3938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70822" y="2549128"/>
            <a:ext cx="3938067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JurisBot removes the financial barrier to justice for citizens while monetizing the supply side. Lawyers pay because JurisBot acts as an </a:t>
            </a:r>
            <a:pPr algn="l" indent="0" marL="0">
              <a:lnSpc>
                <a:spcPct val="940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automated lead-generation engine</a:t>
            </a:r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filtering noise and delivering pre-qualified, pre-briefed cases directly to their dashboard.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4670822" y="2852812"/>
            <a:ext cx="3938067" cy="281434"/>
          </a:xfrm>
          <a:prstGeom prst="roundRect">
            <a:avLst>
              <a:gd name="adj" fmla="val 4111"/>
            </a:avLst>
          </a:prstGeom>
          <a:solidFill>
            <a:srgbClr val="40404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915" y="2949178"/>
            <a:ext cx="96366" cy="770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21374" y="2906762"/>
            <a:ext cx="3610421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more lawyers on the platform, the faster citizens get help. The more citizens, the more valuable the marketplace. A virtuous flywheel.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874" y="467916"/>
            <a:ext cx="1104305" cy="223391"/>
          </a:xfrm>
          <a:prstGeom prst="roundRect">
            <a:avLst>
              <a:gd name="adj" fmla="val 7899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628055" y="511969"/>
            <a:ext cx="1385143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&amp; TRUST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39874" y="747340"/>
            <a:ext cx="4635252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 Don't Just Protect Rights. We Protect Data.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792858"/>
            <a:ext cx="294010" cy="294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055" y="1843385"/>
            <a:ext cx="4166071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Military-Grade Data Sanitation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009055" y="2136204"/>
            <a:ext cx="4166071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case file, consultation, and document is handled with enterprise-level data hygiene protocols.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874" y="2847156"/>
            <a:ext cx="294010" cy="2940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9055" y="2897684"/>
            <a:ext cx="4166071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End-to-End Encrypted WebSockets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009055" y="3190503"/>
            <a:ext cx="4166071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communication between citizens and lawyers is fully encrypted — no third-party exposure.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874" y="3901455"/>
            <a:ext cx="294010" cy="2940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9055" y="3951982"/>
            <a:ext cx="4166071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Verified Legal Experts Only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009055" y="4244801"/>
            <a:ext cx="4166071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lawyer on the marketplace is vetted, ensuring citizens receive qualified, trustworthy guidance.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550962"/>
            <a:ext cx="1261467" cy="212378"/>
          </a:xfrm>
          <a:prstGeom prst="roundRect">
            <a:avLst>
              <a:gd name="adj" fmla="val 7900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623739" y="592857"/>
            <a:ext cx="15509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9874" y="814015"/>
            <a:ext cx="8064252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One of the Largest Underserved Markets on Earth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9874" y="1868165"/>
            <a:ext cx="3952949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40M+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9874" y="2494359"/>
            <a:ext cx="3952949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Pending Cases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9874" y="2768873"/>
            <a:ext cx="395294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Indian courts alone — a backlog that grows every single day.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51177" y="1868165"/>
            <a:ext cx="3952949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51177" y="2494359"/>
            <a:ext cx="3952949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Without Legal Guidance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51177" y="2768873"/>
            <a:ext cx="395294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citizens facing disputes have no idea what their actual rights are.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874" y="3292004"/>
            <a:ext cx="3952949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39874" y="3918198"/>
            <a:ext cx="3952949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 for AI Triage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9874" y="4192712"/>
            <a:ext cx="3952949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JurisBot removes the financial barrier to initial legal guidance entirely.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51177" y="3292004"/>
            <a:ext cx="3952949" cy="46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51177" y="3918198"/>
            <a:ext cx="3952949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Unified Platform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51177" y="4192712"/>
            <a:ext cx="3952949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only solution connecting citizens, AI, and lawyers in a single system.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477515"/>
            <a:ext cx="560859" cy="186779"/>
          </a:xfrm>
          <a:prstGeom prst="roundRect">
            <a:avLst>
              <a:gd name="adj" fmla="val 7898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613618" y="514350"/>
            <a:ext cx="870570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NOW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9874" y="703436"/>
            <a:ext cx="8064252" cy="34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Timing Has Never Been Better</a:t>
            </a:r>
            <a:endParaRPr lang="en-US" sz="2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874" y="1477342"/>
            <a:ext cx="5136803" cy="29108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1328" y="1287661"/>
            <a:ext cx="2627561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forces are converging to make JurisBot inevitable: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81328" y="1729160"/>
            <a:ext cx="276597" cy="27659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6035799" y="1762683"/>
            <a:ext cx="167580" cy="2094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854" y="1771352"/>
            <a:ext cx="225303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Maturity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55854" y="2043857"/>
            <a:ext cx="225303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RAG and LLM technology can now parse legal documents with genuine accuracy — a capability that didn't exist 24 months ago.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1328" y="2736652"/>
            <a:ext cx="276597" cy="27659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6035799" y="2770175"/>
            <a:ext cx="167580" cy="2094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5854" y="2778844"/>
            <a:ext cx="225303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Digital Infrastructure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355854" y="3051349"/>
            <a:ext cx="225303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India's smartphone penetration and digital identity stack (Aadhaar, UPI) create the perfect distribution rails.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1328" y="3744144"/>
            <a:ext cx="276597" cy="27659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799" y="3777667"/>
            <a:ext cx="167580" cy="2094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854" y="3786336"/>
            <a:ext cx="2253035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Regulatory Tailwinds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854" y="4058841"/>
            <a:ext cx="225303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Government initiatives actively pushing for e-courts and digital legal access accelerate adoption.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449014"/>
            <a:ext cx="4635252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Oldest Problem in Human History — Solved.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39874" y="1433289"/>
            <a:ext cx="19050" cy="684684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49573" y="1575792"/>
            <a:ext cx="442555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empowering citizens with AI and streamlining workflows for lawyers, we aren't just making the law faster. We are making it </a:t>
            </a:r>
            <a:pPr algn="l" indent="0" marL="0">
              <a:lnSpc>
                <a:spcPct val="119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fair.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39874" y="2260550"/>
            <a:ext cx="2254300" cy="1353517"/>
          </a:xfrm>
          <a:prstGeom prst="roundRect">
            <a:avLst>
              <a:gd name="adj" fmla="val 1549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679624" y="2400300"/>
            <a:ext cx="1974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Fully Functional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9624" y="2674813"/>
            <a:ext cx="1974800" cy="59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Market-ready product. Not a concept. Not a prototype. Built and operational today.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0826" y="2260550"/>
            <a:ext cx="2254300" cy="1353517"/>
          </a:xfrm>
          <a:prstGeom prst="roundRect">
            <a:avLst>
              <a:gd name="adj" fmla="val 1549"/>
            </a:avLst>
          </a:prstGeom>
          <a:solidFill>
            <a:srgbClr val="303132"/>
          </a:solidFill>
          <a:ln/>
        </p:spPr>
      </p:sp>
      <p:sp>
        <p:nvSpPr>
          <p:cNvPr id="10" name="Text 7"/>
          <p:cNvSpPr/>
          <p:nvPr/>
        </p:nvSpPr>
        <p:spPr>
          <a:xfrm>
            <a:off x="3060576" y="2400300"/>
            <a:ext cx="1974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Scalable Model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60576" y="2674813"/>
            <a:ext cx="1974800" cy="799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SaaS subscription revenue from lawyers. Zero cost barrier for citizens. A self-reinforcing marketplace.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9874" y="3740721"/>
            <a:ext cx="4635252" cy="953765"/>
          </a:xfrm>
          <a:prstGeom prst="roundRect">
            <a:avLst>
              <a:gd name="adj" fmla="val 2199"/>
            </a:avLst>
          </a:prstGeom>
          <a:solidFill>
            <a:srgbClr val="303132"/>
          </a:solidFill>
          <a:ln/>
        </p:spPr>
      </p:sp>
      <p:sp>
        <p:nvSpPr>
          <p:cNvPr id="13" name="Text 10"/>
          <p:cNvSpPr/>
          <p:nvPr/>
        </p:nvSpPr>
        <p:spPr>
          <a:xfrm>
            <a:off x="679624" y="3880470"/>
            <a:ext cx="4355753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Ask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9624" y="4154984"/>
            <a:ext cx="4355753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We're raising to scale verified lawyer onboarding, expand AI coverage to additional jurisdictions, and accelerate go-to-market.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2026-07-15T14:31:54Z</dcterms:created>
  <dcterms:modified xsi:type="dcterms:W3CDTF">2026-07-15T14:31:54Z</dcterms:modified>
</cp:coreProperties>
</file>